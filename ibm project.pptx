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1"/>
  </p:notesMasterIdLst>
  <p:sldIdLst>
    <p:sldId id="256" r:id="rId5"/>
    <p:sldId id="2146847054" r:id="rId6"/>
    <p:sldId id="262" r:id="rId7"/>
    <p:sldId id="265" r:id="rId8"/>
    <p:sldId id="266" r:id="rId9"/>
    <p:sldId id="2146847059" r:id="rId10"/>
    <p:sldId id="2146847056" r:id="rId11"/>
    <p:sldId id="2146847060" r:id="rId12"/>
    <p:sldId id="2146847057" r:id="rId13"/>
    <p:sldId id="2146847061" r:id="rId14"/>
    <p:sldId id="2146847058" r:id="rId15"/>
    <p:sldId id="267" r:id="rId16"/>
    <p:sldId id="2146847055" r:id="rId17"/>
    <p:sldId id="268" r:id="rId18"/>
    <p:sldId id="269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8" autoAdjust="0"/>
    <p:restoredTop sz="94660"/>
  </p:normalViewPr>
  <p:slideViewPr>
    <p:cSldViewPr snapToGrid="0">
      <p:cViewPr varScale="1">
        <p:scale>
          <a:sx n="65" d="100"/>
          <a:sy n="65" d="100"/>
        </p:scale>
        <p:origin x="-700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pPr/>
              <a:t>7/23/2025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xmlns="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Salary prediction using Random forest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5035" y="3545506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sz="2000" b="1" dirty="0" smtClean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smtClean="0">
                <a:solidFill>
                  <a:schemeClr val="bg2"/>
                </a:solidFill>
                <a:latin typeface="Arial"/>
                <a:cs typeface="Arial"/>
              </a:rPr>
              <a:t>Anshika </a:t>
            </a:r>
            <a:r>
              <a:rPr lang="en-US" sz="2000" b="1" dirty="0" smtClean="0">
                <a:solidFill>
                  <a:schemeClr val="bg2"/>
                </a:solidFill>
                <a:latin typeface="Arial"/>
                <a:cs typeface="Arial"/>
              </a:rPr>
              <a:t>Singh-STU677380078a5701735622663-Rajkiya Engineering College, Kannauj-Computer Science &amp; Engineering Department</a:t>
            </a:r>
            <a:endParaRPr lang="en-US" sz="2000" b="1" dirty="0">
              <a:solidFill>
                <a:schemeClr val="bg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377" y="768485"/>
            <a:ext cx="10515600" cy="716712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0406974" cy="39063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200" b="1" dirty="0">
                <a:latin typeface="Arial"/>
                <a:ea typeface="+mn-lt"/>
                <a:cs typeface="Arial"/>
              </a:rPr>
              <a:t>Problem </a:t>
            </a:r>
            <a:r>
              <a:rPr lang="en-US" sz="2200" b="1" dirty="0" smtClean="0">
                <a:latin typeface="Arial"/>
                <a:ea typeface="+mn-lt"/>
                <a:cs typeface="Arial"/>
              </a:rPr>
              <a:t>Statement</a:t>
            </a:r>
            <a:endParaRPr lang="en-US" sz="2200" dirty="0">
              <a:latin typeface="Arial"/>
              <a:cs typeface="Arial"/>
            </a:endParaRPr>
          </a:p>
          <a:p>
            <a:pPr marL="305435" indent="-305435"/>
            <a:r>
              <a:rPr lang="en-US" sz="22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200" b="1" dirty="0">
                <a:latin typeface="Arial"/>
                <a:ea typeface="+mn-lt"/>
                <a:cs typeface="+mn-lt"/>
              </a:rPr>
              <a:t>Development </a:t>
            </a:r>
            <a:r>
              <a:rPr lang="en-US" sz="2200" b="1" dirty="0" smtClean="0">
                <a:latin typeface="Arial"/>
                <a:ea typeface="+mn-lt"/>
                <a:cs typeface="+mn-lt"/>
              </a:rPr>
              <a:t>Approach</a:t>
            </a:r>
            <a:endParaRPr lang="en-US" sz="22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200" b="1" dirty="0">
                <a:latin typeface="Arial"/>
                <a:ea typeface="+mn-lt"/>
                <a:cs typeface="+mn-lt"/>
              </a:rPr>
              <a:t>Algorithm &amp; Deployment </a:t>
            </a:r>
            <a:endParaRPr lang="en-US" sz="2200" dirty="0">
              <a:latin typeface="Arial"/>
              <a:cs typeface="Calibri"/>
            </a:endParaRPr>
          </a:p>
          <a:p>
            <a:pPr marL="305435" indent="-305435"/>
            <a:r>
              <a:rPr lang="en-US" sz="22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200" b="1" dirty="0">
                <a:latin typeface="Arial"/>
                <a:ea typeface="+mn-lt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/>
            <a:r>
              <a:rPr lang="en-US" sz="2200" b="1" dirty="0" smtClean="0">
                <a:latin typeface="Arial"/>
                <a:ea typeface="+mn-lt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305435" indent="-305435"/>
            <a:r>
              <a:rPr lang="en-US" sz="2200" dirty="0" smtClean="0"/>
              <a:t>Employee salaries vary based on multiple factors such as </a:t>
            </a:r>
            <a:r>
              <a:rPr lang="en-US" sz="2200" dirty="0" smtClean="0"/>
              <a:t>education </a:t>
            </a:r>
            <a:r>
              <a:rPr lang="en-US" sz="2200" dirty="0" smtClean="0"/>
              <a:t>level, </a:t>
            </a:r>
            <a:r>
              <a:rPr lang="en-US" sz="2200" dirty="0" smtClean="0"/>
              <a:t>occupation, age, </a:t>
            </a:r>
            <a:r>
              <a:rPr lang="en-US" sz="2200" dirty="0" err="1" smtClean="0"/>
              <a:t>workclass</a:t>
            </a:r>
            <a:r>
              <a:rPr lang="en-US" sz="2200" dirty="0" smtClean="0"/>
              <a:t>, </a:t>
            </a:r>
            <a:r>
              <a:rPr lang="en-US" sz="2200" dirty="0" smtClean="0"/>
              <a:t>location, and other organizational factors.</a:t>
            </a:r>
          </a:p>
          <a:p>
            <a:pPr marL="305435" indent="-305435"/>
            <a:r>
              <a:rPr lang="en-US" sz="2200" dirty="0" smtClean="0"/>
              <a:t>The lack of accurate salary prediction can lead to employee dissatisfaction or poor hiring decisions.</a:t>
            </a:r>
          </a:p>
          <a:p>
            <a:pPr marL="305435" indent="-305435"/>
            <a:r>
              <a:rPr lang="en-US" sz="2200" dirty="0" smtClean="0"/>
              <a:t>Organizations need a reliable data-driven method to estimate fair salaries.</a:t>
            </a:r>
          </a:p>
          <a:p>
            <a:pPr marL="305435" indent="-305435"/>
            <a:r>
              <a:rPr lang="en-US" sz="2200" dirty="0" smtClean="0"/>
              <a:t>The objective of this project is to build a machine learning model that can accurately predict employee salaries based on available features.</a:t>
            </a:r>
          </a:p>
          <a:p>
            <a:pPr marL="305435" indent="-305435"/>
            <a:r>
              <a:rPr lang="en-US" sz="2200" dirty="0" smtClean="0"/>
              <a:t>This will help HR teams in budget planning and candidate evaluation.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xmlns="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IN" sz="2200" b="1" dirty="0" smtClean="0">
                <a:solidFill>
                  <a:srgbClr val="0F0F0F"/>
                </a:solidFill>
              </a:rPr>
              <a:t>System 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Jupyter</a:t>
            </a:r>
            <a:r>
              <a:rPr lang="en-US" sz="2200" dirty="0" smtClean="0"/>
              <a:t> Notebook (Anaconda)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Python 3.x</a:t>
            </a:r>
            <a:endParaRPr lang="en-IN" sz="2200" b="1" dirty="0">
              <a:solidFill>
                <a:srgbClr val="0F0F0F"/>
              </a:solidFill>
            </a:endParaRPr>
          </a:p>
          <a:p>
            <a:pPr marL="305435" indent="-305435"/>
            <a:r>
              <a:rPr lang="en-IN" sz="2200" b="1" dirty="0">
                <a:solidFill>
                  <a:srgbClr val="0F0F0F"/>
                </a:solidFill>
              </a:rPr>
              <a:t>Library required to build the </a:t>
            </a:r>
            <a:r>
              <a:rPr lang="en-IN" sz="2200" b="1" dirty="0" smtClean="0">
                <a:solidFill>
                  <a:srgbClr val="0F0F0F"/>
                </a:solidFill>
              </a:rPr>
              <a:t>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pandas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numpy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matplotlib</a:t>
            </a:r>
            <a:endParaRPr lang="en-US" sz="2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200" dirty="0" err="1" smtClean="0"/>
              <a:t>scikit</a:t>
            </a:r>
            <a:r>
              <a:rPr lang="en-US" sz="2200" dirty="0" smtClean="0"/>
              <a:t>-learn</a:t>
            </a:r>
          </a:p>
        </p:txBody>
      </p:sp>
    </p:spTree>
    <p:extLst>
      <p:ext uri="{BB962C8B-B14F-4D97-AF65-F5344CB8AC3E}">
        <p14:creationId xmlns:p14="http://schemas.microsoft.com/office/powerpoint/2010/main" xmlns="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1. Data Loading &amp; Exploration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smtClean="0"/>
              <a:t>Importing the Dataset</a:t>
            </a:r>
            <a:endParaRPr lang="en-US" sz="2400" dirty="0" smtClean="0"/>
          </a:p>
          <a:p>
            <a:pPr marL="666900" lvl="1" indent="-342900"/>
            <a:r>
              <a:rPr lang="en-US" sz="2000" dirty="0" smtClean="0"/>
              <a:t>Used </a:t>
            </a:r>
            <a:r>
              <a:rPr lang="en-US" sz="2000" dirty="0" err="1" smtClean="0"/>
              <a:t>pandas.read_csv</a:t>
            </a:r>
            <a:r>
              <a:rPr lang="en-US" sz="2000" dirty="0" smtClean="0"/>
              <a:t>() to load the dataset into a </a:t>
            </a:r>
            <a:r>
              <a:rPr lang="en-US" sz="2000" dirty="0" err="1" smtClean="0"/>
              <a:t>DataFrame</a:t>
            </a:r>
            <a:r>
              <a:rPr lang="en-US" sz="2000" dirty="0" smtClean="0"/>
              <a:t>.</a:t>
            </a:r>
          </a:p>
          <a:p>
            <a:pPr marL="666900" lvl="1" indent="-342900"/>
            <a:r>
              <a:rPr lang="en-US" sz="2000" dirty="0" smtClean="0"/>
              <a:t>The dataset contains employee-related features like </a:t>
            </a:r>
            <a:r>
              <a:rPr lang="en-US" sz="2000" dirty="0" err="1" smtClean="0"/>
              <a:t>workclass</a:t>
            </a:r>
            <a:r>
              <a:rPr lang="en-US" sz="2000" dirty="0" smtClean="0"/>
              <a:t>, education, age, and salary.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smtClean="0"/>
              <a:t>Initial Data Exploration</a:t>
            </a:r>
            <a:endParaRPr lang="en-US" sz="2400" dirty="0" smtClean="0"/>
          </a:p>
          <a:p>
            <a:pPr marL="666900" lvl="1" indent="-342900"/>
            <a:r>
              <a:rPr lang="en-US" sz="2000" dirty="0" smtClean="0"/>
              <a:t>Used .head(), .shape(), </a:t>
            </a:r>
            <a:r>
              <a:rPr lang="en-US" sz="2000" dirty="0" err="1" smtClean="0"/>
              <a:t>value_counts</a:t>
            </a:r>
            <a:r>
              <a:rPr lang="en-US" sz="2000" dirty="0" smtClean="0"/>
              <a:t>()  to understand the structure of the dataset.</a:t>
            </a:r>
          </a:p>
          <a:p>
            <a:pPr marL="666900" lvl="1" indent="-342900"/>
            <a:r>
              <a:rPr lang="en-US" sz="2000" dirty="0" smtClean="0"/>
              <a:t>Checked for:</a:t>
            </a:r>
          </a:p>
          <a:p>
            <a:pPr marL="936900" lvl="2" indent="-342900"/>
            <a:r>
              <a:rPr lang="en-US" sz="1800" dirty="0" smtClean="0"/>
              <a:t>Number of rows and columns</a:t>
            </a:r>
          </a:p>
          <a:p>
            <a:pPr marL="936900" lvl="2" indent="-342900"/>
            <a:r>
              <a:rPr lang="en-US" sz="1800" dirty="0" smtClean="0"/>
              <a:t>Data types (object, </a:t>
            </a:r>
            <a:r>
              <a:rPr lang="en-US" sz="1800" dirty="0" err="1" smtClean="0"/>
              <a:t>int</a:t>
            </a:r>
            <a:r>
              <a:rPr lang="en-US" sz="1800" dirty="0" smtClean="0"/>
              <a:t>, float)</a:t>
            </a:r>
          </a:p>
          <a:p>
            <a:pPr marL="936900" lvl="2" indent="-342900"/>
            <a:r>
              <a:rPr lang="en-US" sz="1800" dirty="0" smtClean="0"/>
              <a:t>Missing values</a:t>
            </a:r>
            <a:endParaRPr lang="en-US" dirty="0" smtClean="0"/>
          </a:p>
          <a:p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xmlns="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749" y="698635"/>
            <a:ext cx="10029216" cy="5501856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826" y="922647"/>
            <a:ext cx="11029615" cy="5390604"/>
          </a:xfrm>
        </p:spPr>
        <p:txBody>
          <a:bodyPr/>
          <a:lstStyle/>
          <a:p>
            <a:pPr>
              <a:buNone/>
            </a:pPr>
            <a:r>
              <a:rPr lang="en-US" sz="2200" b="1" dirty="0" smtClean="0"/>
              <a:t>2.  Data Preprocessing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 smtClean="0"/>
              <a:t> </a:t>
            </a:r>
            <a:r>
              <a:rPr lang="en-US" sz="2200" b="1" dirty="0" smtClean="0"/>
              <a:t>Removed Irrelevant Columns</a:t>
            </a:r>
            <a:endParaRPr lang="en-US" sz="2200" dirty="0" smtClean="0"/>
          </a:p>
          <a:p>
            <a:pPr marL="666900" lvl="1" indent="-342900"/>
            <a:r>
              <a:rPr lang="en-US" sz="1900" dirty="0" smtClean="0"/>
              <a:t>Columns such as unnamed indices or duplicates were dropped.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 smtClean="0"/>
              <a:t> </a:t>
            </a:r>
            <a:r>
              <a:rPr lang="en-US" sz="2200" b="1" dirty="0" smtClean="0"/>
              <a:t>Encoded Categorical Features</a:t>
            </a:r>
            <a:endParaRPr lang="en-US" sz="2200" dirty="0" smtClean="0"/>
          </a:p>
          <a:p>
            <a:pPr marL="666900" lvl="1" indent="-342900"/>
            <a:r>
              <a:rPr lang="en-US" sz="1900" dirty="0" smtClean="0"/>
              <a:t>Categorical columns like occupation, education, and </a:t>
            </a:r>
            <a:r>
              <a:rPr lang="en-US" sz="1900" dirty="0" err="1" smtClean="0"/>
              <a:t>workclass</a:t>
            </a:r>
            <a:r>
              <a:rPr lang="en-US" sz="1900" dirty="0" smtClean="0"/>
              <a:t> were converted into numeric form using </a:t>
            </a:r>
            <a:r>
              <a:rPr lang="en-US" sz="1900" dirty="0" err="1" smtClean="0"/>
              <a:t>LabelEncoder</a:t>
            </a:r>
            <a:r>
              <a:rPr lang="en-US" sz="1900" dirty="0" smtClean="0"/>
              <a:t> from </a:t>
            </a:r>
            <a:r>
              <a:rPr lang="en-US" sz="1900" dirty="0" err="1" smtClean="0"/>
              <a:t>sklearn.preprocessing</a:t>
            </a:r>
            <a:r>
              <a:rPr lang="en-US" sz="1900" dirty="0" smtClean="0"/>
              <a:t>.</a:t>
            </a:r>
          </a:p>
          <a:p>
            <a:pPr marL="666900" lvl="1" indent="-342900"/>
            <a:r>
              <a:rPr lang="en-US" sz="1900" dirty="0" smtClean="0"/>
              <a:t>This step is essential because machine learning algorithms require numerical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b="1" dirty="0" smtClean="0"/>
              <a:t>Removed Redundant Rows and Outliers</a:t>
            </a:r>
            <a:endParaRPr lang="en-US" sz="2200" dirty="0" smtClean="0"/>
          </a:p>
          <a:p>
            <a:pPr marL="666900" lvl="1" indent="-342900"/>
            <a:r>
              <a:rPr lang="en-US" sz="1900" dirty="0" smtClean="0"/>
              <a:t>Duplicate rows were dropped to avoid bias in training.</a:t>
            </a:r>
          </a:p>
          <a:p>
            <a:pPr marL="666900" lvl="1" indent="-342900"/>
            <a:r>
              <a:rPr lang="en-US" sz="1900" dirty="0" smtClean="0"/>
              <a:t>Cleaned out invalid or inconsistent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173" y="675966"/>
            <a:ext cx="10032707" cy="5839527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200" b="1" dirty="0" smtClean="0"/>
              <a:t>3. Model Training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b="1" dirty="0" smtClean="0"/>
              <a:t>Train-Test Split</a:t>
            </a:r>
            <a:endParaRPr lang="en-US" sz="2200" dirty="0" smtClean="0"/>
          </a:p>
          <a:p>
            <a:pPr marL="666900" lvl="1" indent="-342900"/>
            <a:r>
              <a:rPr lang="en-US" sz="1900" dirty="0" smtClean="0"/>
              <a:t>Used </a:t>
            </a:r>
            <a:r>
              <a:rPr lang="en-US" sz="1900" dirty="0" err="1" smtClean="0"/>
              <a:t>train_test_split</a:t>
            </a:r>
            <a:r>
              <a:rPr lang="en-US" sz="1900" dirty="0" smtClean="0"/>
              <a:t>() from </a:t>
            </a:r>
            <a:r>
              <a:rPr lang="en-US" sz="1900" dirty="0" err="1" smtClean="0"/>
              <a:t>sklearn.model_selection</a:t>
            </a:r>
            <a:r>
              <a:rPr lang="en-US" sz="1900" dirty="0" smtClean="0"/>
              <a:t> to split data into 80% training and 20% testing sets.</a:t>
            </a:r>
          </a:p>
          <a:p>
            <a:pPr marL="666900" lvl="1" indent="-342900"/>
            <a:r>
              <a:rPr lang="en-US" sz="1900" dirty="0" smtClean="0"/>
              <a:t>This ensures the model is trained on one part and evaluated on unseen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b="1" dirty="0" smtClean="0"/>
              <a:t>Trained </a:t>
            </a:r>
            <a:r>
              <a:rPr lang="en-US" sz="2200" b="1" dirty="0" err="1" smtClean="0"/>
              <a:t>RandomForestClassifier</a:t>
            </a:r>
            <a:r>
              <a:rPr lang="en-US" sz="2200" b="1" dirty="0" smtClean="0"/>
              <a:t> Model</a:t>
            </a:r>
            <a:endParaRPr lang="en-US" sz="2200" dirty="0" smtClean="0"/>
          </a:p>
          <a:p>
            <a:pPr lvl="1"/>
            <a:r>
              <a:rPr lang="en-US" sz="1900" dirty="0" smtClean="0"/>
              <a:t>Used </a:t>
            </a:r>
            <a:r>
              <a:rPr lang="en-US" sz="1900" dirty="0" err="1" smtClean="0"/>
              <a:t>RandomForestClassifier</a:t>
            </a:r>
            <a:r>
              <a:rPr lang="en-US" sz="1900" dirty="0" smtClean="0"/>
              <a:t>() from </a:t>
            </a:r>
            <a:r>
              <a:rPr lang="en-US" sz="1900" dirty="0" err="1" smtClean="0"/>
              <a:t>sklearn.ensemble</a:t>
            </a:r>
            <a:r>
              <a:rPr lang="en-US" sz="1900" dirty="0" smtClean="0"/>
              <a:t>.</a:t>
            </a:r>
          </a:p>
          <a:p>
            <a:pPr lvl="1"/>
            <a:r>
              <a:rPr lang="en-US" sz="1900" dirty="0" smtClean="0"/>
              <a:t>The model creates an ensemble of decision trees and combines their outputs for accurate classification.</a:t>
            </a:r>
          </a:p>
          <a:p>
            <a:pPr lvl="1"/>
            <a:r>
              <a:rPr lang="en-US" sz="1900" dirty="0" smtClean="0"/>
              <a:t>Random Forest handles both categorical and numerical features efficiently.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5335" y="764781"/>
            <a:ext cx="7957225" cy="5632112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64" y="924128"/>
            <a:ext cx="11029615" cy="5097293"/>
          </a:xfrm>
        </p:spPr>
        <p:txBody>
          <a:bodyPr/>
          <a:lstStyle/>
          <a:p>
            <a:pPr>
              <a:buNone/>
            </a:pPr>
            <a:r>
              <a:rPr lang="en-US" sz="2200" b="1" dirty="0" smtClean="0"/>
              <a:t>4. Model Evaluation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b="1" dirty="0" smtClean="0"/>
              <a:t>Prediction on Test Data</a:t>
            </a:r>
            <a:endParaRPr lang="en-US" sz="2200" dirty="0" smtClean="0"/>
          </a:p>
          <a:p>
            <a:pPr marL="666900" lvl="1" indent="-342900"/>
            <a:r>
              <a:rPr lang="en-US" sz="1900" dirty="0" smtClean="0"/>
              <a:t>Used .predict() on the test set to generate predicted salary categories</a:t>
            </a:r>
            <a:r>
              <a:rPr lang="en-US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b="1" dirty="0" smtClean="0"/>
              <a:t>Evaluation Metrics</a:t>
            </a:r>
            <a:endParaRPr lang="en-US" sz="2200" dirty="0" smtClean="0"/>
          </a:p>
          <a:p>
            <a:pPr lvl="1"/>
            <a:r>
              <a:rPr lang="en-US" sz="1900" b="1" dirty="0" smtClean="0"/>
              <a:t>Accuracy</a:t>
            </a:r>
            <a:r>
              <a:rPr lang="en-US" sz="1900" dirty="0" smtClean="0"/>
              <a:t> was calculated using </a:t>
            </a:r>
            <a:r>
              <a:rPr lang="en-US" sz="1900" dirty="0" err="1" smtClean="0"/>
              <a:t>accuracy_score</a:t>
            </a:r>
            <a:r>
              <a:rPr lang="en-US" sz="1900" dirty="0" smtClean="0"/>
              <a:t>() </a:t>
            </a:r>
          </a:p>
          <a:p>
            <a:pPr lvl="1"/>
            <a:r>
              <a:rPr lang="en-US" sz="1900" b="1" dirty="0" smtClean="0"/>
              <a:t>Classification Report</a:t>
            </a:r>
            <a:r>
              <a:rPr lang="en-US" sz="1900" dirty="0" smtClean="0"/>
              <a:t> using </a:t>
            </a:r>
            <a:r>
              <a:rPr lang="en-US" sz="1900" dirty="0" err="1" smtClean="0"/>
              <a:t>classification_report</a:t>
            </a:r>
            <a:r>
              <a:rPr lang="en-US" sz="1900" dirty="0" smtClean="0"/>
              <a:t>() provided:</a:t>
            </a:r>
          </a:p>
          <a:p>
            <a:pPr lvl="2">
              <a:buFont typeface="Arial" pitchFamily="34" charset="0"/>
              <a:buChar char="•"/>
            </a:pPr>
            <a:r>
              <a:rPr lang="en-US" sz="1700" dirty="0" smtClean="0"/>
              <a:t>Precision</a:t>
            </a:r>
          </a:p>
          <a:p>
            <a:pPr lvl="2">
              <a:buFont typeface="Arial" pitchFamily="34" charset="0"/>
              <a:buChar char="•"/>
            </a:pPr>
            <a:r>
              <a:rPr lang="en-US" sz="1700" dirty="0" smtClean="0"/>
              <a:t>Recall</a:t>
            </a:r>
          </a:p>
          <a:p>
            <a:pPr lvl="2">
              <a:buFont typeface="Arial" pitchFamily="34" charset="0"/>
              <a:buChar char="•"/>
            </a:pPr>
            <a:r>
              <a:rPr lang="en-US" sz="1700" dirty="0" smtClean="0"/>
              <a:t>F1-score</a:t>
            </a:r>
          </a:p>
          <a:p>
            <a:pPr lvl="2">
              <a:buFont typeface="Arial" pitchFamily="34" charset="0"/>
              <a:buChar char="•"/>
            </a:pPr>
            <a:r>
              <a:rPr lang="en-US" sz="1700" dirty="0" smtClean="0"/>
              <a:t>Support for each salary class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147864"/>
            <a:ext cx="11029615" cy="5710136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200" b="1" dirty="0" smtClean="0"/>
              <a:t>Model Used: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1900" dirty="0" err="1" smtClean="0"/>
              <a:t>RandomForestClassifier</a:t>
            </a:r>
            <a:r>
              <a:rPr lang="en-US" sz="1900" dirty="0" smtClean="0"/>
              <a:t>()</a:t>
            </a:r>
          </a:p>
          <a:p>
            <a:pPr marL="342900" indent="-342900"/>
            <a:r>
              <a:rPr lang="en-US" sz="2200" b="1" dirty="0" smtClean="0"/>
              <a:t>Evaluation Metrics:</a:t>
            </a:r>
            <a:endParaRPr lang="en-US" sz="2200" dirty="0" smtClean="0"/>
          </a:p>
          <a:p>
            <a:pPr marL="781200" lvl="1" indent="-457200">
              <a:buFont typeface="+mj-lt"/>
              <a:buAutoNum type="arabicPeriod"/>
            </a:pPr>
            <a:r>
              <a:rPr lang="en-US" sz="2200" b="1" dirty="0" smtClean="0"/>
              <a:t>Accuracy:</a:t>
            </a:r>
            <a:r>
              <a:rPr lang="en-US" sz="2200" dirty="0" smtClean="0"/>
              <a:t> 85.6%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sz="2200" b="1" dirty="0" smtClean="0"/>
              <a:t>Classification Report Output: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900" dirty="0" smtClean="0"/>
              <a:t>The report includes:</a:t>
            </a:r>
          </a:p>
          <a:p>
            <a:pPr marL="1278900" lvl="3" indent="-342900"/>
            <a:r>
              <a:rPr lang="en-US" sz="1900" b="1" dirty="0" smtClean="0"/>
              <a:t>Precision</a:t>
            </a:r>
            <a:r>
              <a:rPr lang="en-US" sz="1900" dirty="0" smtClean="0"/>
              <a:t>: Indicates the percentage of correct positive predictions.</a:t>
            </a:r>
          </a:p>
          <a:p>
            <a:pPr marL="1278900" lvl="3" indent="-342900"/>
            <a:r>
              <a:rPr lang="en-US" sz="1900" b="1" dirty="0" smtClean="0"/>
              <a:t>Recall</a:t>
            </a:r>
            <a:r>
              <a:rPr lang="en-US" sz="1900" dirty="0" smtClean="0"/>
              <a:t>: Shows how well the model detects all positive instances.</a:t>
            </a:r>
          </a:p>
          <a:p>
            <a:pPr marL="1278900" lvl="3" indent="-342900"/>
            <a:r>
              <a:rPr lang="en-US" sz="1900" b="1" dirty="0" smtClean="0"/>
              <a:t>F1-score</a:t>
            </a:r>
            <a:r>
              <a:rPr lang="en-US" sz="1900" dirty="0" smtClean="0"/>
              <a:t>: Harmonic mean of precision and recall.</a:t>
            </a:r>
          </a:p>
          <a:p>
            <a:pPr marL="1278900" lvl="3" indent="-342900"/>
            <a:r>
              <a:rPr lang="en-US" sz="1900" b="1" dirty="0" smtClean="0"/>
              <a:t>Support</a:t>
            </a:r>
            <a:r>
              <a:rPr lang="en-US" sz="1900" dirty="0" smtClean="0"/>
              <a:t>: Number of actual instances per class</a:t>
            </a:r>
            <a:r>
              <a:rPr lang="en-US" sz="1600" dirty="0" smtClean="0"/>
              <a:t>.</a:t>
            </a:r>
          </a:p>
          <a:p>
            <a:pPr marL="305435" indent="-305435"/>
            <a:r>
              <a:rPr lang="en-US" sz="2200" b="1" dirty="0" smtClean="0"/>
              <a:t>Attach </a:t>
            </a:r>
            <a:r>
              <a:rPr lang="en-US" sz="2200" b="1" dirty="0"/>
              <a:t>your </a:t>
            </a:r>
            <a:r>
              <a:rPr lang="en-US" sz="2200" b="1" dirty="0" err="1"/>
              <a:t>Github</a:t>
            </a:r>
            <a:r>
              <a:rPr lang="en-US" sz="2200" b="1" dirty="0"/>
              <a:t> </a:t>
            </a:r>
            <a:r>
              <a:rPr lang="en-US" sz="2200" b="1" dirty="0" smtClean="0"/>
              <a:t>link</a:t>
            </a:r>
          </a:p>
          <a:p>
            <a:pPr marL="629435" lvl="1" indent="-305435"/>
            <a:r>
              <a:rPr lang="en-US" sz="1900" b="1" dirty="0" smtClean="0"/>
              <a:t>https://github.com/Anshika1204/Ibmskillbuild.git</a:t>
            </a:r>
          </a:p>
          <a:p>
            <a:pPr marL="305435" indent="-305435"/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xmlns="" val="1483293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305435" indent="-305435">
              <a:buNone/>
            </a:pPr>
            <a:endParaRPr lang="en-US" sz="2800" b="1" dirty="0"/>
          </a:p>
        </p:txBody>
      </p:sp>
      <p:pic>
        <p:nvPicPr>
          <p:cNvPr id="7" name="Picture 6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0592"/>
            <a:ext cx="5515583" cy="294684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8" name="Picture 7" descr="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221" y="650142"/>
            <a:ext cx="6313251" cy="617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14882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dirty="0" smtClean="0"/>
              <a:t>The </a:t>
            </a:r>
            <a:r>
              <a:rPr lang="en-US" sz="2800" b="1" dirty="0" smtClean="0"/>
              <a:t>Random Forest Classifier</a:t>
            </a:r>
            <a:r>
              <a:rPr lang="en-US" sz="2800" dirty="0" smtClean="0"/>
              <a:t> successfully predicted salary categories with a good accuracy of </a:t>
            </a:r>
            <a:r>
              <a:rPr lang="en-US" sz="2800" b="1" dirty="0" smtClean="0"/>
              <a:t>85.6%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The model demonstrated </a:t>
            </a:r>
            <a:r>
              <a:rPr lang="en-US" sz="2800" b="1" dirty="0" smtClean="0"/>
              <a:t>balanced performance across multiple salary classes</a:t>
            </a:r>
            <a:r>
              <a:rPr lang="en-US" sz="2800" dirty="0" smtClean="0"/>
              <a:t>, as shown in the classification report.</a:t>
            </a:r>
          </a:p>
          <a:p>
            <a:r>
              <a:rPr lang="en-US" sz="2800" dirty="0" smtClean="0"/>
              <a:t>Proper </a:t>
            </a:r>
            <a:r>
              <a:rPr lang="en-US" sz="2800" b="1" dirty="0" smtClean="0"/>
              <a:t>preprocessing</a:t>
            </a:r>
            <a:r>
              <a:rPr lang="en-US" sz="2800" dirty="0" smtClean="0"/>
              <a:t> — including encoding, cleaning, and feature selection — played a vital role in improving model performance.</a:t>
            </a:r>
          </a:p>
          <a:p>
            <a:r>
              <a:rPr lang="en-US" sz="2800" b="1" dirty="0" smtClean="0"/>
              <a:t>Label encoding</a:t>
            </a:r>
            <a:r>
              <a:rPr lang="en-US" sz="2800" dirty="0" smtClean="0"/>
              <a:t> was used effectively to convert categorical data for model training.</a:t>
            </a:r>
          </a:p>
          <a:p>
            <a:r>
              <a:rPr lang="en-US" sz="2800" dirty="0" smtClean="0"/>
              <a:t>The classifier handled both categorical and numerical features efficiently.</a:t>
            </a:r>
          </a:p>
          <a:p>
            <a:r>
              <a:rPr lang="en-US" sz="2800" dirty="0" smtClean="0"/>
              <a:t>This project helped understand the </a:t>
            </a:r>
            <a:r>
              <a:rPr lang="en-US" sz="2800" b="1" dirty="0" smtClean="0"/>
              <a:t>end-to-end workflow</a:t>
            </a:r>
            <a:r>
              <a:rPr lang="en-US" sz="2800" dirty="0" smtClean="0"/>
              <a:t> of a machine learning classification problem.</a:t>
            </a:r>
          </a:p>
          <a:p>
            <a:r>
              <a:rPr lang="en-US" sz="2800" dirty="0" smtClean="0"/>
              <a:t>The model can serve as a helpful tool for </a:t>
            </a:r>
            <a:r>
              <a:rPr lang="en-US" sz="2800" b="1" dirty="0" smtClean="0"/>
              <a:t>HR departments</a:t>
            </a:r>
            <a:r>
              <a:rPr lang="en-US" sz="2800" dirty="0" smtClean="0"/>
              <a:t> in automating salary classification based on candidate details.</a:t>
            </a:r>
          </a:p>
        </p:txBody>
      </p:sp>
    </p:spTree>
    <p:extLst>
      <p:ext uri="{BB962C8B-B14F-4D97-AF65-F5344CB8AC3E}">
        <p14:creationId xmlns:p14="http://schemas.microsoft.com/office/powerpoint/2010/main" xmlns="" val="318331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IBM </a:t>
            </a:r>
            <a:r>
              <a:rPr lang="en-US" sz="2200" dirty="0" err="1" smtClean="0"/>
              <a:t>SkillBuild</a:t>
            </a:r>
            <a:r>
              <a:rPr lang="en-US" sz="2200" dirty="0" smtClean="0"/>
              <a:t> Internship Sessions – </a:t>
            </a:r>
            <a:r>
              <a:rPr lang="en-US" sz="2200" dirty="0" err="1" smtClean="0"/>
              <a:t>Edunet</a:t>
            </a:r>
            <a:r>
              <a:rPr lang="en-US" sz="2200" dirty="0" smtClean="0"/>
              <a:t> Foundation</a:t>
            </a:r>
          </a:p>
          <a:p>
            <a:r>
              <a:rPr lang="en-US" sz="2200" dirty="0" err="1" smtClean="0"/>
              <a:t>Scikit</a:t>
            </a:r>
            <a:r>
              <a:rPr lang="en-US" sz="2200" dirty="0" smtClean="0"/>
              <a:t>-learn Documentation: https://scikit-learn.org/stable/</a:t>
            </a:r>
          </a:p>
          <a:p>
            <a:r>
              <a:rPr lang="en-US" sz="2200" dirty="0" smtClean="0"/>
              <a:t>Pandas Documentation: https://pandas.pydata.org/docs/</a:t>
            </a:r>
          </a:p>
          <a:p>
            <a:r>
              <a:rPr lang="en-US" sz="2200" dirty="0" err="1" smtClean="0"/>
              <a:t>NumPy</a:t>
            </a:r>
            <a:r>
              <a:rPr lang="en-US" sz="2200" dirty="0" smtClean="0"/>
              <a:t> Documentation: https://numpy.org/doc/</a:t>
            </a:r>
          </a:p>
          <a:p>
            <a:r>
              <a:rPr lang="en-US" sz="2200" dirty="0" smtClean="0"/>
              <a:t>Python Official Documentation: https://docs.python.org/3/</a:t>
            </a:r>
          </a:p>
          <a:p>
            <a:r>
              <a:rPr lang="en-US" sz="2200" dirty="0" err="1" smtClean="0"/>
              <a:t>Matplotlib</a:t>
            </a:r>
            <a:r>
              <a:rPr lang="en-US" sz="2200" dirty="0" smtClean="0"/>
              <a:t> Documentation: https://matplotlib.org/stable/</a:t>
            </a:r>
          </a:p>
          <a:p>
            <a:r>
              <a:rPr lang="en-US" sz="2200" dirty="0" err="1" smtClean="0"/>
              <a:t>LabelEncoder</a:t>
            </a:r>
            <a:r>
              <a:rPr lang="en-US" sz="2200" dirty="0" smtClean="0"/>
              <a:t> – </a:t>
            </a:r>
            <a:r>
              <a:rPr lang="en-US" sz="2200" dirty="0" err="1" smtClean="0"/>
              <a:t>Scikit</a:t>
            </a:r>
            <a:r>
              <a:rPr lang="en-US" sz="2200" dirty="0" smtClean="0"/>
              <a:t>-learn: https://scikit-learn.org/stable/modules/generated/sklearn.preprocessing.LabelEncoder.html</a:t>
            </a:r>
          </a:p>
          <a:p>
            <a:r>
              <a:rPr lang="en-US" sz="2200" dirty="0" smtClean="0"/>
              <a:t>Dataset provided during IBM </a:t>
            </a:r>
            <a:r>
              <a:rPr lang="en-US" sz="2200" dirty="0" err="1" smtClean="0"/>
              <a:t>SkillBuild</a:t>
            </a:r>
            <a:r>
              <a:rPr lang="en-US" sz="2200" dirty="0" smtClean="0"/>
              <a:t> Internship</a:t>
            </a:r>
          </a:p>
        </p:txBody>
      </p:sp>
    </p:spTree>
    <p:extLst>
      <p:ext uri="{BB962C8B-B14F-4D97-AF65-F5344CB8AC3E}">
        <p14:creationId xmlns:p14="http://schemas.microsoft.com/office/powerpoint/2010/main" xmlns="" val="72895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108</TotalTime>
  <Words>576</Words>
  <Application>Microsoft Office PowerPoint</Application>
  <PresentationFormat>Custom</PresentationFormat>
  <Paragraphs>96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DividendVTI</vt:lpstr>
      <vt:lpstr>employee Salary prediction using Random forest</vt:lpstr>
      <vt:lpstr>OUTLINE</vt:lpstr>
      <vt:lpstr>Problem Statement</vt:lpstr>
      <vt:lpstr>System  Approach</vt:lpstr>
      <vt:lpstr>Algorithm &amp; Deployment</vt:lpstr>
      <vt:lpstr>Slide 6</vt:lpstr>
      <vt:lpstr>Slide 7</vt:lpstr>
      <vt:lpstr>Slide 8</vt:lpstr>
      <vt:lpstr>Slide 9</vt:lpstr>
      <vt:lpstr>Slide 10</vt:lpstr>
      <vt:lpstr>Slide 11</vt:lpstr>
      <vt:lpstr>Result</vt:lpstr>
      <vt:lpstr>Slide 13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Windows User</cp:lastModifiedBy>
  <cp:revision>49</cp:revision>
  <dcterms:created xsi:type="dcterms:W3CDTF">2021-05-26T16:50:10Z</dcterms:created>
  <dcterms:modified xsi:type="dcterms:W3CDTF">2025-07-23T11:49:50Z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